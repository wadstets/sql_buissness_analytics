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1D2D3"/>
                </a:solidFill>
                <a:highlight>
                  <a:srgbClr val="222529"/>
                </a:highlight>
              </a:rPr>
              <a:t>Hello everyone</a:t>
            </a:r>
            <a:endParaRPr sz="1150">
              <a:solidFill>
                <a:srgbClr val="D1D2D3"/>
              </a:solidFill>
              <a:highlight>
                <a:srgbClr val="22252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D1D2D3"/>
              </a:solidFill>
              <a:highlight>
                <a:srgbClr val="22252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D1D2D3"/>
                </a:solidFill>
                <a:highlight>
                  <a:srgbClr val="222529"/>
                </a:highlight>
              </a:rPr>
              <a:t>For our expansion to Brazil, Magist, our potential partner, has given us</a:t>
            </a:r>
            <a:endParaRPr sz="1150">
              <a:solidFill>
                <a:srgbClr val="D1D2D3"/>
              </a:solidFill>
              <a:highlight>
                <a:srgbClr val="22252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D1D2D3"/>
                </a:solidFill>
                <a:highlight>
                  <a:srgbClr val="222529"/>
                </a:highlight>
              </a:rPr>
              <a:t> a look into their data from the past three years (from 20016-2018).</a:t>
            </a:r>
            <a:endParaRPr sz="1150">
              <a:solidFill>
                <a:srgbClr val="D1D2D3"/>
              </a:solidFill>
              <a:highlight>
                <a:srgbClr val="22252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D1D2D3"/>
                </a:solidFill>
                <a:highlight>
                  <a:srgbClr val="222529"/>
                </a:highlight>
              </a:rPr>
              <a:t>We at Eniac pride ourselves on quality and our commitment to the human</a:t>
            </a:r>
            <a:endParaRPr sz="1150">
              <a:solidFill>
                <a:srgbClr val="D1D2D3"/>
              </a:solidFill>
              <a:highlight>
                <a:srgbClr val="22252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D1D2D3"/>
                </a:solidFill>
                <a:highlight>
                  <a:srgbClr val="222529"/>
                </a:highlight>
              </a:rPr>
              <a:t>side of the business. High-end tech products and fast deliveries keep</a:t>
            </a:r>
            <a:endParaRPr sz="1150">
              <a:solidFill>
                <a:srgbClr val="D1D2D3"/>
              </a:solidFill>
              <a:highlight>
                <a:srgbClr val="22252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D1D2D3"/>
                </a:solidFill>
                <a:highlight>
                  <a:srgbClr val="222529"/>
                </a:highlight>
              </a:rPr>
              <a:t>our customers happy. So that is what our team </a:t>
            </a:r>
            <a:r>
              <a:rPr lang="en">
                <a:solidFill>
                  <a:schemeClr val="dk1"/>
                </a:solidFill>
              </a:rPr>
              <a:t>NAN-Sense Solutions</a:t>
            </a:r>
            <a:r>
              <a:rPr lang="en" sz="1150">
                <a:solidFill>
                  <a:srgbClr val="D1D2D3"/>
                </a:solidFill>
                <a:highlight>
                  <a:srgbClr val="222529"/>
                </a:highlight>
              </a:rPr>
              <a:t> from  focused on when we</a:t>
            </a:r>
            <a:endParaRPr sz="1150">
              <a:solidFill>
                <a:srgbClr val="D1D2D3"/>
              </a:solidFill>
              <a:highlight>
                <a:srgbClr val="22252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D1D2D3"/>
                </a:solidFill>
                <a:highlight>
                  <a:srgbClr val="222529"/>
                </a:highlight>
              </a:rPr>
              <a:t>analyzed the data given to us.</a:t>
            </a:r>
            <a:endParaRPr sz="1150">
              <a:solidFill>
                <a:srgbClr val="D1D2D3"/>
              </a:solidFill>
              <a:highlight>
                <a:srgbClr val="22252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1D2D3"/>
                </a:solidFill>
                <a:highlight>
                  <a:srgbClr val="222529"/>
                </a:highlight>
              </a:rPr>
              <a:t>Based on what we found, we don’t recommend the planned three-year contract.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Magist is </a:t>
            </a:r>
            <a:r>
              <a:rPr lang="en"/>
              <a:t>apparently</a:t>
            </a:r>
            <a:r>
              <a:rPr lang="en"/>
              <a:t> not used to handle hight priced items.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 the long delivery times dont meet our standards.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vision is clear: we want to expand. We have set our sights on the Brazilian market—one of the most dynamic economies in the world. Our business model is based on quality. We sell high-end technology, especially Apple products. We know that demand in Brazil is huge. So the plan is to bring our premium products across the Atlantic and use a local partner to scale up quickly. The goal is growth through quality.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 before we take this step, our team – ‘NAN-Sense Solutions’ – has analyzed the potential partner Magist in detail. And here we encounter a fundamental problem. Take a look at the figures: at Eniac, our average order value is €540. That's the world of iPhones and MacBooks. Magist, on the other hand, operates in a completely different reality. The average shopping cart there is only €108. So we are trying to sell luxury goods via a platform that is designed for inexpensive mass-market goods and small accessories.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discrepancy is dangerous. Anyone who spends €1,000 on a device will not accept long delivery times and </a:t>
            </a:r>
            <a:r>
              <a:rPr lang="en">
                <a:highlight>
                  <a:schemeClr val="accent4"/>
                </a:highlight>
              </a:rPr>
              <a:t>mediocre</a:t>
            </a:r>
            <a:r>
              <a:rPr lang="en"/>
              <a:t> service—things that seem to be the norm at Magist. An immediate, long-term commitment would be gambling with our brand reputation. That is why our verdict today is: beware of speed. We do not recommend a 3-year contract.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Unsere Vision ist klar: Wir wollen expandieren. Wir haben den brasilianischen Markt ins Visier genommen – eine der dynamischsten Volkswirtschaften der Welt. Unser Geschäftsmodell basiert auf Qualität. Wir verkaufen High-End-Technologie, insbesondere </a:t>
            </a:r>
            <a:r>
              <a:rPr b="1" lang="en">
                <a:solidFill>
                  <a:schemeClr val="dk1"/>
                </a:solidFill>
              </a:rPr>
              <a:t>Apple-Produkte</a:t>
            </a:r>
            <a:r>
              <a:rPr lang="en">
                <a:solidFill>
                  <a:schemeClr val="dk1"/>
                </a:solidFill>
              </a:rPr>
              <a:t>. Wir wissen, dass die Nachfrage in Brasilien riesig ist. Der Plan ist also: Wir bringen unsere Premium-Produkte über den Atlantik und nutzen einen lokalen Partner, um schnell zu skalieren. Das Ziel ist Wachstum durch Qualität.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Doch bevor wir diesen Schritt gehen, hat unser Team – 'NAN-Sense Solutions' – den potenziellen Partner </a:t>
            </a:r>
            <a:r>
              <a:rPr b="1" lang="en">
                <a:solidFill>
                  <a:schemeClr val="dk1"/>
                </a:solidFill>
              </a:rPr>
              <a:t>Magist</a:t>
            </a:r>
            <a:r>
              <a:rPr lang="en">
                <a:solidFill>
                  <a:schemeClr val="dk1"/>
                </a:solidFill>
              </a:rPr>
              <a:t> genau analysiert. Und hier stoßen wir auf ein fundamentales Problem. Schauen Sie auf die Zahlen: Wir bei Eniac bewegen uns bei einem durchschnittlichen Bestellwert von </a:t>
            </a:r>
            <a:r>
              <a:rPr b="1" lang="en">
                <a:solidFill>
                  <a:schemeClr val="dk1"/>
                </a:solidFill>
              </a:rPr>
              <a:t>540 Euro</a:t>
            </a:r>
            <a:r>
              <a:rPr lang="en">
                <a:solidFill>
                  <a:schemeClr val="dk1"/>
                </a:solidFill>
              </a:rPr>
              <a:t>. Das ist die Welt von iPhones und MacBooks. Magist hingegen operiert in einer völlig anderen Realität. Der durchschnittliche Warenkorb dort liegt bei lediglich </a:t>
            </a:r>
            <a:r>
              <a:rPr b="1" lang="en">
                <a:solidFill>
                  <a:schemeClr val="dk1"/>
                </a:solidFill>
              </a:rPr>
              <a:t>108 Euro</a:t>
            </a:r>
            <a:r>
              <a:rPr lang="en">
                <a:solidFill>
                  <a:schemeClr val="dk1"/>
                </a:solidFill>
              </a:rPr>
              <a:t>. Wir versuchen also, Luxusgüter über eine Plattform zu verkaufen, die auf günstige Massenware und kleine Accessoires ausgelegt ist.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Diese Diskrepanz ist gefährlich. Wer 1000 Euro für ein Gerät ausgibt, akzeptiert keine langen Lieferzeiten und keinen mittelmäßigen Service – Dinge, die bei Magist aber die Norm zu sein scheinen. Eine sofortige, langfristige Bindung wäre ein Glücksspiel mit unserem Markenruf. Deshalb lautet unser Urteil heute: </a:t>
            </a:r>
            <a:r>
              <a:rPr b="1" lang="en">
                <a:solidFill>
                  <a:schemeClr val="dk1"/>
                </a:solidFill>
              </a:rPr>
              <a:t>Vorsicht vor Geschwindigkeit.</a:t>
            </a:r>
            <a:r>
              <a:rPr lang="en">
                <a:solidFill>
                  <a:schemeClr val="dk1"/>
                </a:solidFill>
              </a:rPr>
              <a:t> Wir empfehlen keinen 3-Jahres-Vertrag.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043a9d4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043a9d4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</a:t>
            </a:r>
            <a:r>
              <a:rPr lang="en"/>
              <a:t>discovered a user growth,</a:t>
            </a:r>
            <a:r>
              <a:rPr lang="en"/>
              <a:t> demonstrating a steady upward trend </a:t>
            </a:r>
            <a:r>
              <a:rPr lang="en"/>
              <a:t>which</a:t>
            </a:r>
            <a:r>
              <a:rPr lang="en"/>
              <a:t> shows a indication for  an rising marketvalue.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043a9d4a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043a9d4a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Magist is apparently not used to handle hight priced items.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of </a:t>
            </a:r>
            <a:r>
              <a:rPr lang="en"/>
              <a:t>the</a:t>
            </a:r>
            <a:r>
              <a:rPr lang="en"/>
              <a:t> sellers are concentrated in central areas. </a:t>
            </a:r>
            <a:r>
              <a:rPr lang="en">
                <a:solidFill>
                  <a:schemeClr val="dk1"/>
                </a:solidFill>
              </a:rPr>
              <a:t>This concentration could make logistics outside these regions more difficult or slower, so broader coverage is needed. This distribution should reduce the average delivery time, but it doesn’t.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043a9d4a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043a9d4a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target </a:t>
            </a:r>
            <a:r>
              <a:rPr lang="en"/>
              <a:t>categories</a:t>
            </a:r>
            <a:r>
              <a:rPr lang="en"/>
              <a:t> are </a:t>
            </a:r>
            <a:r>
              <a:rPr lang="en"/>
              <a:t>highlighted</a:t>
            </a:r>
            <a:r>
              <a:rPr lang="en"/>
              <a:t> in green color, </a:t>
            </a:r>
            <a:r>
              <a:rPr lang="en"/>
              <a:t>which</a:t>
            </a:r>
            <a:r>
              <a:rPr lang="en"/>
              <a:t> are 12% in total sales.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not seeing a small deviation here, but a factor of 5x. This means that Magist mainly sells accessories, inexpensive gadgets, and entry-level devices, but hardly any high-end electronics.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043a9d4a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043a9d4a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you can see, the overall average price is quite low, and it is even lower in our specific categories. There is a huge discrepancy between these market figures and our internal numbers. Maria will now go into detail on why this difference exists.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0f1bf0f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0f1bf0f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 is a massive discrepancy in the average price of tech products. While Eniac's products average €540.00, Magist sells products for an average of only €108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here we encounter a fundamental problem. Take a look at the figures: at Eniac, our average order value is €540. That's the world of iPhones and MacBooks. Magist, on the other hand, operates in a completely different reality. The average shopping cart there is only €108. So we are trying to sell luxury goods via a platform that is designed for inexpensive mass-market goods and small accessories.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0f1bf0f6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0f1bf0f6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Eniac average monthly revenue is 1.17M€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average monthly revenue of tech sellers on Magist is considered low, while Eniac's is €1.17 million.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“k” instead thousand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0f1bf0f6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0f1bf0f6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0f1bf0f6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0f1bf0f6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0f1bf0f6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0f1bf0f6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0f1bf0f6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0f1bf0f6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0f1bf0f6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0f1bf0f6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0f1bf0f6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0f1bf0f6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494475" y="1873600"/>
            <a:ext cx="5844900" cy="913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NaN-Sense Solutions</a:t>
            </a:r>
            <a:endParaRPr sz="3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2832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45"/>
              <a:t>GROUP 3:</a:t>
            </a:r>
            <a:r>
              <a:rPr lang="en" sz="5200">
                <a:solidFill>
                  <a:schemeClr val="dk1"/>
                </a:solidFill>
              </a:rPr>
              <a:t> </a:t>
            </a:r>
            <a:r>
              <a:rPr lang="en"/>
              <a:t>Lisa Bartel, Niels Zimmermann, Wadim, Juan, Maria Trokoz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1575" y="422300"/>
            <a:ext cx="5240850" cy="286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00"/>
              <a:t>Magist </a:t>
            </a:r>
            <a:r>
              <a:rPr lang="en" sz="2400"/>
              <a:t>User Growth Through Number of Orders</a:t>
            </a:r>
            <a:endParaRPr sz="2400"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" name="Google Shape;63;p14" title="1_user_growt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125" y="947250"/>
            <a:ext cx="8099111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1377425" y="77525"/>
            <a:ext cx="615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Magist: Sellers Locations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69" name="Google Shape;69;p15" title="6_selle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850" y="631625"/>
            <a:ext cx="5712758" cy="434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86550" y="413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00"/>
              <a:t>All Available Product Categories </a:t>
            </a:r>
            <a:endParaRPr sz="2400"/>
          </a:p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16" title="4_technical_non-technical.png"/>
          <p:cNvPicPr preferRelativeResize="0"/>
          <p:nvPr/>
        </p:nvPicPr>
        <p:blipFill rotWithShape="1">
          <a:blip r:embed="rId3">
            <a:alphaModFix/>
          </a:blip>
          <a:srcRect b="10919" l="120741" r="-56385" t="13620"/>
          <a:stretch/>
        </p:blipFill>
        <p:spPr>
          <a:xfrm>
            <a:off x="386549" y="1934025"/>
            <a:ext cx="2354674" cy="29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4_2.png"/>
          <p:cNvPicPr preferRelativeResize="0"/>
          <p:nvPr/>
        </p:nvPicPr>
        <p:blipFill rotWithShape="1">
          <a:blip r:embed="rId4">
            <a:alphaModFix/>
          </a:blip>
          <a:srcRect b="0" l="17859" r="19187" t="0"/>
          <a:stretch/>
        </p:blipFill>
        <p:spPr>
          <a:xfrm>
            <a:off x="311700" y="986050"/>
            <a:ext cx="2354675" cy="35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 title="3_3_product_categori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23173" y="1376500"/>
            <a:ext cx="6097977" cy="3177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Average Price of Technical vs Non-Technical Items</a:t>
            </a:r>
            <a:endParaRPr sz="2420"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" name="Google Shape;85;p17" title="5_3.png"/>
          <p:cNvPicPr preferRelativeResize="0"/>
          <p:nvPr/>
        </p:nvPicPr>
        <p:blipFill rotWithShape="1">
          <a:blip r:embed="rId3">
            <a:alphaModFix/>
          </a:blip>
          <a:srcRect b="1181" l="0" r="0" t="1171"/>
          <a:stretch/>
        </p:blipFill>
        <p:spPr>
          <a:xfrm>
            <a:off x="1273088" y="1017725"/>
            <a:ext cx="6597823" cy="3842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Magist Average Price of Tech Products vs Eniac’s</a:t>
            </a:r>
            <a:endParaRPr sz="2420"/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2" name="Google Shape;92;p18" title="5_2_avg_pri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2075" y="1283401"/>
            <a:ext cx="4335715" cy="35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5300475" y="2015700"/>
            <a:ext cx="22548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Eniac </a:t>
            </a:r>
            <a:r>
              <a:rPr lang="en" sz="1800">
                <a:solidFill>
                  <a:schemeClr val="dk2"/>
                </a:solidFill>
              </a:rPr>
              <a:t>= 540,00€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Magist</a:t>
            </a:r>
            <a:r>
              <a:rPr lang="en" sz="1800">
                <a:solidFill>
                  <a:schemeClr val="dk2"/>
                </a:solidFill>
              </a:rPr>
              <a:t> = 107,80€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Average Monthly Revenue By Tech Sellers Is Low</a:t>
            </a:r>
            <a:endParaRPr sz="2420"/>
          </a:p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 rotWithShape="1">
          <a:blip r:embed="rId3">
            <a:alphaModFix/>
          </a:blip>
          <a:srcRect b="18042" l="1556" r="3530" t="12135"/>
          <a:stretch/>
        </p:blipFill>
        <p:spPr>
          <a:xfrm>
            <a:off x="440125" y="1358700"/>
            <a:ext cx="7847801" cy="313342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/>
        </p:nvSpPr>
        <p:spPr>
          <a:xfrm>
            <a:off x="6161925" y="3833200"/>
            <a:ext cx="16896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Eniac</a:t>
            </a:r>
            <a:r>
              <a:rPr lang="en" sz="1500">
                <a:solidFill>
                  <a:schemeClr val="dk2"/>
                </a:solidFill>
              </a:rPr>
              <a:t> → 1.17M €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7" name="Google Shape;107;p20" title="9_avg_d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863" y="1485363"/>
            <a:ext cx="42576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 title="paolo-feser-1MFqJzNUwOM-unsplash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6262" y="318350"/>
            <a:ext cx="3003795" cy="4506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65175" y="412950"/>
            <a:ext cx="8520600" cy="7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/>
              <a:t>Conclusion</a:t>
            </a:r>
            <a:endParaRPr sz="3000" u="sng"/>
          </a:p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21"/>
          <p:cNvSpPr txBox="1"/>
          <p:nvPr/>
        </p:nvSpPr>
        <p:spPr>
          <a:xfrm>
            <a:off x="722725" y="1419075"/>
            <a:ext cx="7930800" cy="30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Magist isn’t used to handle high-end products.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Long delivery times, not representing our standard.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Still offers smooth expansion into Brazilian market →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One year probation contract instead of three years.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Shorter duration reduces risk.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263275" y="1999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Delivered packages</a:t>
            </a:r>
            <a:endParaRPr/>
          </a:p>
        </p:txBody>
      </p:sp>
      <p:sp>
        <p:nvSpPr>
          <p:cNvPr id="127" name="Google Shape;12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8" name="Google Shape;128;p23" title="2.2_%_delivered_pack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9275" y="1481988"/>
            <a:ext cx="3153025" cy="271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3" title="2_%_delivered_packag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052" y="1191537"/>
            <a:ext cx="5855425" cy="329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Percentage Share of Tech Categories in Total Sales</a:t>
            </a:r>
            <a:endParaRPr/>
          </a:p>
        </p:txBody>
      </p:sp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6" name="Google Shape;136;p24"/>
          <p:cNvPicPr preferRelativeResize="0"/>
          <p:nvPr/>
        </p:nvPicPr>
        <p:blipFill rotWithShape="1">
          <a:blip r:embed="rId3">
            <a:alphaModFix/>
          </a:blip>
          <a:srcRect b="1287" l="1648" r="1947" t="8695"/>
          <a:stretch/>
        </p:blipFill>
        <p:spPr>
          <a:xfrm>
            <a:off x="959612" y="1174350"/>
            <a:ext cx="7224773" cy="3816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2" name="Google Shape;142;p25" title="8_avg_price_of_all_produc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650" y="1130350"/>
            <a:ext cx="7258700" cy="3895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